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17"/>
    <p:sldId id="261" r:id="rId7"/>
    <p:sldId id="262" r:id="rId8"/>
    <p:sldId id="267" r:id="rId1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011680"/>
            <a:ext cx="2286000" cy="3131820"/>
          </a:xfrm>
          <a:prstGeom prst="rect">
            <a:avLst/>
          </a:prstGeom>
          <a:solidFill>
            <a:srgbClr val="1E4D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74320"/>
            <a:ext cx="18288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286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4A825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AWS ML ENGINEER ASSOCIATE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20040" y="1508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20040" y="2377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4C8"/>
                </a:solidFill>
              </a:rPr>
              <a:t>Banking Domain Examples | Real-World Storytelling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Topics: AI vs ML  •  Classical vs ML Approach  •  Supervised  •  Unsupervised  •  Reinforcement Learning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56616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825"/>
                </a:solidFill>
              </a:rPr>
              <a:t>Banking Domain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Machine Learning — What exactly is Machine Learning?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474720" cy="3474720"/>
          </a:xfrm>
          <a:prstGeom prst="ellipse">
            <a:avLst/>
          </a:prstGeom>
          <a:solidFill>
            <a:srgbClr val="1E4D8C">
              <a:alpha val="85000"/>
            </a:srgbClr>
          </a:solidFill>
          <a:ln w="381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Artificial Intelligence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Intelligent systems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that perform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human-like tasks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011680"/>
            <a:ext cx="2194560" cy="2194560"/>
          </a:xfrm>
          <a:prstGeom prst="ellipse">
            <a:avLst/>
          </a:prstGeom>
          <a:solidFill>
            <a:srgbClr val="00A8E8">
              <a:alpha val="90000"/>
            </a:srgbClr>
          </a:solidFill>
          <a:ln w="25400">
            <a:solidFill>
              <a:srgbClr val="F4A8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860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Subset of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Algorithms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005840"/>
            <a:ext cx="4663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005840"/>
            <a:ext cx="73152" cy="1188720"/>
          </a:xfrm>
          <a:prstGeom prst="rect">
            <a:avLst/>
          </a:prstGeom>
          <a:solidFill>
            <a:srgbClr val="1E4D8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14300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9204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AI (Artificial Intelligence)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38988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Intelligent systems that perform human-like tasks — like playing chess, recognizing images.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6240" y="2331720"/>
            <a:ext cx="4663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6240" y="2331720"/>
            <a:ext cx="73152" cy="1188720"/>
          </a:xfrm>
          <a:prstGeom prst="rect">
            <a:avLst/>
          </a:prstGeom>
          <a:solidFill>
            <a:srgbClr val="00A8E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688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92040" y="24231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ML (Machine Learning)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92040" y="27157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 subset of AI — machines perform complex tasks without explicit instructions, by learning from data.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206240" y="3657600"/>
            <a:ext cx="46634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206240" y="3657600"/>
            <a:ext cx="73152" cy="1188720"/>
          </a:xfrm>
          <a:prstGeom prst="rect">
            <a:avLst/>
          </a:prstGeom>
          <a:solidFill>
            <a:srgbClr val="F4A825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79476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92040" y="3749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Key Difference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892040" y="404164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Classical programming requires manually written rules. In ML, the model discovers rules on its own from data.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26" name="Text 2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825"/>
                </a:solidFill>
              </a:rPr>
              <a:t>💡 Banking Example: AI is the broad field — ML is the specific tool powering fraud detection and loan approvals in banks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82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Classical Programming vs Machine Learning — Loan Approval Example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Classical Programming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Rule 1: If salary &lt; ₹25,000 → Loan REJECT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025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Rule 2: If CIBIL score &lt; 650 → Loan REJECT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3230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Rule 3: If existing EMI &gt; 40% of income → REJECT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862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Rule 4: If job experience &lt; 2 years → REJECT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291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Problem: These rules only handle simple, predictable cases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7216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What if the customer is young but fast-growing in income?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1513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More rules = more complexity → system latency increases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05840"/>
            <a:ext cx="41605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058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Machine Learning Approach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1572768"/>
            <a:ext cx="64008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72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Historical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1828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Millions of historical loan applications as training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194560"/>
            <a:ext cx="64008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194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Training Process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ML model identifies patterns automatically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816352"/>
            <a:ext cx="64008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816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Learns from features: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0723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Salary, CIBIL, EMI ratio, Job history, Age...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3438144"/>
            <a:ext cx="64008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3438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Smart Prediction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694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Holistic analysis of the new customer profile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4059936"/>
            <a:ext cx="64008" cy="50292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059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Result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43159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Accurate approval/rejection with reason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06240" y="2468880"/>
            <a:ext cx="685800" cy="685800"/>
          </a:xfrm>
          <a:prstGeom prst="ellipse">
            <a:avLst/>
          </a:prstGeom>
          <a:solidFill>
            <a:srgbClr val="F4A82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062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VS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82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an ML Model actually work?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E8"/>
                </a:solidFill>
              </a:rPr>
              <a:t>Features &amp; Weights — Fraud Detection Example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8686800" cy="594360"/>
          </a:xfrm>
          <a:prstGeom prst="rect">
            <a:avLst/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825"/>
                </a:solidFill>
              </a:rPr>
              <a:t>🏦 Scenario: A banking transaction just came in — is it Fraudulent?  (Amount: ₹85,000 | Location: Unusual | Time: 2 AM | Device: New)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828800"/>
            <a:ext cx="8686800" cy="384048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Value (0 or 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1828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212848"/>
            <a:ext cx="8686800" cy="402336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21284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Unusual Location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22128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</a:rPr>
              <a:t>1 (Yes)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0" y="22128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825"/>
                </a:solidFill>
              </a:rPr>
              <a:t>0.85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132320" y="22128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</a:rPr>
              <a:t>HIGH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615184"/>
            <a:ext cx="8686800" cy="402336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615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Late Night Transaction (2 AM)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0" y="26151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</a:rPr>
              <a:t>1 (Yes)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6151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825"/>
                </a:solidFill>
              </a:rPr>
              <a:t>0.72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32320" y="261518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</a:rPr>
              <a:t>HIGH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017520"/>
            <a:ext cx="8686800" cy="402336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0175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New/Unrecognized Device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0" y="3017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</a:rPr>
              <a:t>1 (Yes)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0" y="30175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825"/>
                </a:solidFill>
              </a:rPr>
              <a:t>0.68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32320" y="30175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00"/>
                </a:solidFill>
              </a:rPr>
              <a:t>HIGH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419856"/>
            <a:ext cx="8686800" cy="402336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4198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Amount &gt; Avg Spending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0" y="34198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</a:rPr>
              <a:t>1 (Yes)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0" y="34198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825"/>
                </a:solidFill>
              </a:rPr>
              <a:t>0.90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341985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VERY HIGH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3822192"/>
            <a:ext cx="8686800" cy="402336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3822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Transaction in Home City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0" y="38221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A8E8"/>
                </a:solidFill>
              </a:rPr>
              <a:t>0 (No)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0" y="38221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825"/>
                </a:solidFill>
              </a:rPr>
              <a:t>0.0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32320" y="38221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NONE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4251960"/>
            <a:ext cx="8686800" cy="594360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65760" y="42519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Final Score: 3.15 &gt; Threshold (1.0)  →  FRAUD ALERT! Transaction BLOCKED  |  Customer notified via SMS &amp; Call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82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Three Categories of ML — Where does each fit in Banking?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788920" cy="502920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325880"/>
            <a:ext cx="685800" cy="685800"/>
          </a:xfrm>
          <a:prstGeom prst="ellipse">
            <a:avLst/>
          </a:prstGeom>
          <a:solidFill>
            <a:srgbClr val="1E4D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435608"/>
            <a:ext cx="466344" cy="466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1214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8C"/>
                </a:solidFill>
              </a:rPr>
              <a:t>Supervised Learning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4871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Learns from labeled data — both input and correct output are provided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3090672"/>
            <a:ext cx="2606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Banking Examples: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3429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Loan Approval / Rejection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3730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Credit Risk Classification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65760" y="4032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Loan Amount Prediction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334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Default Probability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0" y="105156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0" y="1051560"/>
            <a:ext cx="2788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6"/>
          <p:cNvSpPr/>
          <p:nvPr/>
        </p:nvSpPr>
        <p:spPr>
          <a:xfrm>
            <a:off x="4251960" y="1325880"/>
            <a:ext cx="685800" cy="6858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435608"/>
            <a:ext cx="466344" cy="4663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91840" y="21214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Unsupervised Learning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291840" y="24871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Finds hidden patterns in data without any labels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291840" y="3090672"/>
            <a:ext cx="2606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0"/>
          <p:cNvSpPr/>
          <p:nvPr/>
        </p:nvSpPr>
        <p:spPr>
          <a:xfrm>
            <a:off x="333756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Banking Examples: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337560" y="3429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Customer Segmentation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337560" y="3730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Fraud Pattern Detection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337560" y="4032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Portfolio Clustering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337560" y="4334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Market Basket Analysis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172200" y="1051560"/>
            <a:ext cx="2788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172200" y="1051560"/>
            <a:ext cx="27889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Shape 27"/>
          <p:cNvSpPr/>
          <p:nvPr/>
        </p:nvSpPr>
        <p:spPr>
          <a:xfrm>
            <a:off x="7223760" y="1325880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435608"/>
            <a:ext cx="466344" cy="466344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263640" y="21214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Reinforcement Learning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263640" y="248716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Learns by trial &amp; error — guided by a reward system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263640" y="3090672"/>
            <a:ext cx="260604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1"/>
          <p:cNvSpPr/>
          <p:nvPr/>
        </p:nvSpPr>
        <p:spPr>
          <a:xfrm>
            <a:off x="6309360" y="315468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Banking Examples: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309360" y="3429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Algorithmic Trading Bot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309360" y="37307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Dynamic Pricing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309360" y="40325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Portfolio Optimization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6309360" y="4334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ATM Cash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Supervised Learning — Classification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1605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160520" cy="411480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058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Binary Classification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Will the Loan be Approved or Rejected?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Output: 2 possibilities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1783080" cy="685800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176272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APPROVE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(1)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2176272"/>
            <a:ext cx="1965960" cy="685800"/>
          </a:xfrm>
          <a:prstGeom prst="rect">
            <a:avLst/>
          </a:prstGeom>
          <a:solidFill>
            <a:srgbClr val="EF4444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0280" y="2176272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REJECT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(0)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Input Features: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Credit Score (CIBIL)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Monthly Income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Existing EMIs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Employment Type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389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Loan Amount Requested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2519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42519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00584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Multi-Class Classification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1508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What is the Customer's Credit Risk Level?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828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Output: Multiple categories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176272"/>
            <a:ext cx="3931920" cy="42062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176272"/>
            <a:ext cx="64008" cy="4206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1762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🟢 LOW RISK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0" y="21762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Safe borrower, Premium products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651760"/>
            <a:ext cx="3931920" cy="42062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651760"/>
            <a:ext cx="64008" cy="420624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6517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🟡 MEDIUM RISK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583680" y="2651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Standard loan, Higher rate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127248"/>
            <a:ext cx="3931920" cy="42062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127248"/>
            <a:ext cx="64008" cy="42062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1272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🔴 HIGH RISK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0" y="312724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Small loan, Collateral required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602736"/>
            <a:ext cx="3931920" cy="420624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3602736"/>
            <a:ext cx="64008" cy="420624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6027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⛔ VERY HIGH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0" y="36027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Reject or secured only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297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4D8C"/>
                </a:solidFill>
              </a:rPr>
              <a:t>AWS Services: Amazon SageMaker, Amazon Fraud Detector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825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 Learning — Regression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4A825"/>
                </a:solidFill>
              </a:rPr>
              <a:t>Banking Example: Loan Amount Prediction — How much can we safely lend?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3017520"/>
          </a:xfrm>
          <a:prstGeom prst="rect">
            <a:avLst/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</a:rPr>
              <a:t>What does Regression do?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 Classification, the output is a category (Approve/Reject).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 Regression, the output is an exact NUMBER.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25"/>
                </a:solidFill>
              </a:rPr>
              <a:t>Input Features: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3931920" cy="26517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Monthly Salary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2514600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₹80,000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3931920" cy="265176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16352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Work Experience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2816352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8 years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18104"/>
            <a:ext cx="3931920" cy="26517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1810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CIBIL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3118104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780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3931920" cy="265176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19856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Current EMIs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3419856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₹12,000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21608"/>
            <a:ext cx="3931920" cy="265176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21608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97480" y="3721608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35 years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2331720"/>
            <a:ext cx="320040" cy="54864"/>
          </a:xfrm>
          <a:prstGeom prst="rect">
            <a:avLst/>
          </a:prstGeom>
          <a:solidFill>
            <a:srgbClr val="F4A825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A825"/>
                </a:solidFill>
              </a:rPr>
              <a:t>→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937760" y="1051560"/>
            <a:ext cx="3977640" cy="3017520"/>
          </a:xfrm>
          <a:prstGeom prst="rect">
            <a:avLst/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</a:rPr>
              <a:t>ML Model Output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0" y="1572768"/>
            <a:ext cx="2743200" cy="1508760"/>
          </a:xfrm>
          <a:prstGeom prst="ellipse">
            <a:avLst/>
          </a:prstGeom>
          <a:solidFill>
            <a:srgbClr val="1E4D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692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8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 18,50,000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669280" y="2331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Recommended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Loan Amount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25"/>
                </a:solidFill>
              </a:rPr>
              <a:t>Additional Insights: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EMI: ₹24,500/month (30.6% income)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74920" y="3794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Tenure: 10 years recommended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7492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Interest Rate: 8.75% (low risk tier)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206240"/>
            <a:ext cx="9144000" cy="640080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AWS Service: Amazon SageMaker Linear Learner Algorithm  |  Use Cases: Home Loans, Personal Loans, Business Credit Lines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82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Unsupervised Learning — Discovering Hidden Patterns in Banking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64008" cy="1920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170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Cluster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6968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Customer Segmentation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93192" y="16916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Automatically groups unlabeled customer data into meaningful clusters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3192" y="201168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Example: A bank with 10M customers is automatically segmented — HNI Investors, Young Professionals, Retirees, SME Owners — each receiving targeted product offers.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100584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005840"/>
            <a:ext cx="64008" cy="192024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170432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21808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Anomaly Detection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321808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F4444"/>
                </a:solidFill>
              </a:rPr>
              <a:t>Fraud Detection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28032" y="16916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Identifies transactions that deviate from normal patterns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28032" y="201168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Example: A customer always transacts in Delhi. Suddenly at 2 AM, a ₹2L transaction fires from Dubai — the model raises a FRAUD ALERT.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28600" y="306324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28600" y="3063240"/>
            <a:ext cx="64008" cy="19202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22783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6968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Dimension Reduction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86968" y="3447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Feature Simplification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93192" y="37490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Compresses hundreds of features into fewer, meaningful ones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93192" y="406908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Example: A loan application has 200 features — PCA (Principal Component Analysis) compresses them into 15 principal components. Faster processing, same accuracy.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663440" y="3063240"/>
            <a:ext cx="42519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63440" y="3063240"/>
            <a:ext cx="64008" cy="1920240"/>
          </a:xfrm>
          <a:prstGeom prst="rect">
            <a:avLst/>
          </a:prstGeom>
          <a:solidFill>
            <a:srgbClr val="F4A825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27832"/>
            <a:ext cx="384048" cy="38404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21808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Density Estimation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321808" y="3447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4A825"/>
                </a:solidFill>
              </a:rPr>
              <a:t>Market Risk Modeling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828032" y="37490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Understands data distribution to predict rare, extreme events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4828032" y="406908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Example: Estimating the probability of a market crash — using historical data distributions to identify extreme tail-risk scenarios.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Reinforcement 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825"/>
                </a:solidFill>
              </a:rPr>
              <a:t>Banking Example: Algorithmic Trading Bot — Agent learns by trial &amp; error to maximize profit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777240"/>
          </a:xfrm>
          <a:prstGeom prst="rect">
            <a:avLst/>
          </a:prstGeom>
          <a:solidFill>
            <a:srgbClr val="1E4D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10972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ENVIRONMENT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(Stock Market)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3063240"/>
            <a:ext cx="2194560" cy="777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30632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(Trading Bot)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A8E8"/>
                </a:solidFill>
              </a:rPr>
              <a:t>STATE: Nifty -2%, FII Selling, ₹ weak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4A825"/>
                </a:solidFill>
              </a:rPr>
              <a:t>ACTION: Buy 500 shares @ ₹1,840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</a:rPr>
              <a:t>REWARD: +₹24,000 profit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005840"/>
            <a:ext cx="3017520" cy="3886200"/>
          </a:xfrm>
          <a:prstGeom prst="rect">
            <a:avLst/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25"/>
                </a:solidFill>
              </a:rPr>
              <a:t>Banking RL Use Cases: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508760"/>
            <a:ext cx="6400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15270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Trading Bot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18013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Analyzes market data to make buy/sell decisions and maximize profit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13432"/>
            <a:ext cx="6400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331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Dynamic Interest Rates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2606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Auto-adjusts rates in real time based on market conditions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18104"/>
            <a:ext cx="6400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3136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ATM Cash Optimization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" y="3410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Predicts and maintains the right cash level at each ATM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922776"/>
            <a:ext cx="6400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9410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Rebalancing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42153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Automatically rebalances portfolio as market conditions shift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005840"/>
            <a:ext cx="2971800" cy="3886200"/>
          </a:xfrm>
          <a:prstGeom prst="rect">
            <a:avLst/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080760" y="1097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825"/>
                </a:solidFill>
              </a:rPr>
              <a:t>Key RL Terms: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1508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E8"/>
                </a:solidFill>
              </a:rPr>
              <a:t>Agent: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32320" y="1508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The bot that makes decisions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2039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E8"/>
                </a:solidFill>
              </a:rPr>
              <a:t>Environment: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0" y="2039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Stock market / financial world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569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E8"/>
                </a:solidFill>
              </a:rPr>
              <a:t>State: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132320" y="256946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Current market condition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3099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E8"/>
                </a:solidFill>
              </a:rPr>
              <a:t>Action: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32320" y="3099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Buy / Sell / Hold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80760" y="3630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E8"/>
                </a:solidFill>
              </a:rPr>
              <a:t>Reward: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32320" y="3630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Profit ya Loss signal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4160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E8"/>
                </a:solidFill>
              </a:rPr>
              <a:t>Policy: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Agent ki strategy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AWS Service: AWS DeepRacer, Amazon SageMaker RL  |  RL learns by interacting with the environment — no labeled data needed!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82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 2 Summary — Key Takeaways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2446020" y="1005840"/>
            <a:ext cx="4251960" cy="1170432"/>
          </a:xfrm>
          <a:prstGeom prst="rect">
            <a:avLst/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46020" y="1005840"/>
            <a:ext cx="64008" cy="1170432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25" name="Shape 23"/>
          <p:cNvSpPr/>
          <p:nvPr/>
        </p:nvSpPr>
        <p:spPr>
          <a:xfrm>
            <a:off x="2629380" y="1261872"/>
            <a:ext cx="457200" cy="457200"/>
          </a:xfrm>
          <a:prstGeom prst="ellipse">
            <a:avLst/>
          </a:prstGeom>
          <a:solidFill>
            <a:srgbClr val="1E4D8C"/>
          </a:solidFill>
          <a:ln/>
        </p:spPr>
      </p:sp>
      <p:sp>
        <p:nvSpPr>
          <p:cNvPr id="26" name="Text 24"/>
          <p:cNvSpPr/>
          <p:nvPr/>
        </p:nvSpPr>
        <p:spPr>
          <a:xfrm>
            <a:off x="262938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23260" y="109728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Supervised Learning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23260" y="13990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Classification (Approve/Reject, Risk Tiers) &amp; Regression (Loan Amount, EMI) — both powered by labeled data, deployed daily across banking operations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46020" y="2286000"/>
            <a:ext cx="4251960" cy="1170432"/>
          </a:xfrm>
          <a:prstGeom prst="rect">
            <a:avLst/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46020" y="2286000"/>
            <a:ext cx="64008" cy="1170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2629380" y="254203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262938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23260" y="2377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Unsupervised Learning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223260" y="26791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Clustering (10M customer segments), Anomaly Detection (Dubai fraud alert), PCA (200→15 features), Density Estimation (tail-risk modeling) — no labels needed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46020" y="3566160"/>
            <a:ext cx="4251960" cy="1170432"/>
          </a:xfrm>
          <a:prstGeom prst="rect">
            <a:avLst/>
          </a:prstGeom>
          <a:solidFill>
            <a:srgbClr val="1A2F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46020" y="3566160"/>
            <a:ext cx="64008" cy="1170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2629380" y="382219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26293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23260" y="3657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Reinforcement Learning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23260" y="395935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4C8"/>
                </a:solidFill>
              </a:rPr>
              <a:t>Agent learns via State → Action → Reward loop — powers Trading Bots, Dynamic Interest Rates, ATM Cash Optimization &amp; Portfolio Rebalancing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A8E8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Next: AWS SageMaker Deep Dive | Model Training &amp; Deployment | MLOps on AWS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E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011680"/>
            <a:ext cx="2286000" cy="3131820"/>
          </a:xfrm>
          <a:prstGeom prst="rect">
            <a:avLst/>
          </a:prstGeom>
          <a:solidFill>
            <a:srgbClr val="1E4D8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74320"/>
            <a:ext cx="18288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2286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4A825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228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AWS ML ENGINEER ASSOCIATE  |  PART 2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20040" y="777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in Banking —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20040" y="1508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20040" y="2377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4C8"/>
                </a:solidFill>
              </a:rPr>
              <a:t>Classification  |  Regression  |  Clustering  |  Fraud Detection  |  RL Trading Bot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F5E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</a:rPr>
              <a:t>Topics: Supervised Learning  •  Classification &amp; Regression  •  Unsupervised Learning  •  Reinforcement Learning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56616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825"/>
                </a:solidFill>
              </a:rPr>
              <a:t>Banking Domain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A82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Unsupervised Learning — When There Are No Labels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0648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4206480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05840"/>
            <a:ext cx="4206480" cy="420624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Shift from Supervised Learning</a:t>
            </a:r>
          </a:p>
        </p:txBody>
      </p:sp>
      <p:sp>
        <p:nvSpPr>
          <p:cNvPr id="8" name="Shape 6"/>
          <p:cNvSpPr/>
          <p:nvPr/>
        </p:nvSpPr>
        <p:spPr>
          <a:xfrm>
            <a:off x="228600" y="1481760"/>
            <a:ext cx="4115520" cy="475200"/>
          </a:xfrm>
          <a:prstGeom prst="rect">
            <a:avLst/>
          </a:prstGeom>
          <a:solidFill>
            <a:srgbClr val="DBEAFE"/>
          </a:solidFill>
          <a:ln>
            <a:solidFill>
              <a:srgbClr val="1E4D8C"/>
            </a:solidFill>
          </a:ln>
        </p:spPr>
      </p:sp>
      <p:sp>
        <p:nvSpPr>
          <p:cNvPr id="9" name="Shape 7"/>
          <p:cNvSpPr/>
          <p:nvPr/>
        </p:nvSpPr>
        <p:spPr>
          <a:xfrm>
            <a:off x="228600" y="1481760"/>
            <a:ext cx="54864" cy="475200"/>
          </a:xfrm>
          <a:prstGeom prst="rect">
            <a:avLst/>
          </a:prstGeom>
          <a:solidFill>
            <a:srgbClr val="1E4D8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81760"/>
            <a:ext cx="4024080" cy="475200"/>
          </a:xfrm>
          <a:prstGeom prst="rect">
            <a:avLst/>
          </a:prstGeom>
          <a:noFill/>
          <a:ln/>
        </p:spPr>
        <p:txBody>
          <a:bodyPr wrap="square" lIns="91440" tIns="9144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D8C"/>
                </a:solidFill>
              </a:rPr>
              <a:t>✓ Supervised Learning</a:t>
            </a:r>
            <a:r>
              <a:rPr lang="en-US" sz="1100" dirty="0">
                <a:solidFill>
                  <a:srgbClr val="334155"/>
                </a:solidFill>
              </a:rPr>
              <a:t xml:space="preserve"> — Model learns from labeled data</a:t>
            </a:r>
          </a:p>
        </p:txBody>
      </p:sp>
      <p:sp>
        <p:nvSpPr>
          <p:cNvPr id="11" name="Text 9"/>
          <p:cNvSpPr/>
          <p:nvPr/>
        </p:nvSpPr>
        <p:spPr>
          <a:xfrm>
            <a:off x="320040" y="1984680"/>
            <a:ext cx="402408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Someone has already told the model the right answers</a:t>
            </a:r>
          </a:p>
        </p:txBody>
      </p:sp>
      <p:sp>
        <p:nvSpPr>
          <p:cNvPr id="12" name="Text 10"/>
          <p:cNvSpPr/>
          <p:nvPr/>
        </p:nvSpPr>
        <p:spPr>
          <a:xfrm>
            <a:off x="182880" y="2322960"/>
            <a:ext cx="420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825"/>
                </a:solidFill>
              </a:rPr>
              <a:t>↓  But what if there are NO labels?</a:t>
            </a:r>
          </a:p>
        </p:txBody>
      </p:sp>
      <p:sp>
        <p:nvSpPr>
          <p:cNvPr id="13" name="Shape 11"/>
          <p:cNvSpPr/>
          <p:nvPr/>
        </p:nvSpPr>
        <p:spPr>
          <a:xfrm>
            <a:off x="228600" y="2697480"/>
            <a:ext cx="4115520" cy="475200"/>
          </a:xfrm>
          <a:prstGeom prst="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</p:sp>
      <p:sp>
        <p:nvSpPr>
          <p:cNvPr id="14" name="Shape 12"/>
          <p:cNvSpPr/>
          <p:nvPr/>
        </p:nvSpPr>
        <p:spPr>
          <a:xfrm>
            <a:off x="228600" y="2697480"/>
            <a:ext cx="54864" cy="475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697480"/>
            <a:ext cx="4024080" cy="475200"/>
          </a:xfrm>
          <a:prstGeom prst="rect">
            <a:avLst/>
          </a:prstGeom>
          <a:noFill/>
          <a:ln/>
        </p:spPr>
        <p:txBody>
          <a:bodyPr wrap="square" lIns="91440" tIns="9144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→ Unsupervised Learning</a:t>
            </a:r>
            <a:r>
              <a:rPr lang="en-US" sz="1100" dirty="0">
                <a:solidFill>
                  <a:srgbClr val="334155"/>
                </a:solidFill>
              </a:rPr>
              <a:t xml:space="preserve"> — No labels, find patterns on your own</a:t>
            </a:r>
          </a:p>
        </p:txBody>
      </p:sp>
      <p:sp>
        <p:nvSpPr>
          <p:cNvPr id="16" name="Text 14"/>
          <p:cNvSpPr/>
          <p:nvPr/>
        </p:nvSpPr>
        <p:spPr>
          <a:xfrm>
            <a:off x="320040" y="3200400"/>
            <a:ext cx="4024080" cy="32004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Raw data only — millions of transactions, millions of profiles</a:t>
            </a:r>
          </a:p>
        </p:txBody>
      </p:sp>
      <p:sp>
        <p:nvSpPr>
          <p:cNvPr id="17" name="Shape 15"/>
          <p:cNvSpPr/>
          <p:nvPr/>
        </p:nvSpPr>
        <p:spPr>
          <a:xfrm>
            <a:off x="182880" y="3566160"/>
            <a:ext cx="4206480" cy="320040"/>
          </a:xfrm>
          <a:prstGeom prst="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</p:sp>
      <p:sp>
        <p:nvSpPr>
          <p:cNvPr id="18" name="Text 16"/>
          <p:cNvSpPr/>
          <p:nvPr/>
        </p:nvSpPr>
        <p:spPr>
          <a:xfrm>
            <a:off x="182880" y="3566160"/>
            <a:ext cx="4206480" cy="320040"/>
          </a:xfrm>
          <a:prstGeom prst="rect">
            <a:avLst/>
          </a:prstGeom>
          <a:noFill/>
          <a:ln/>
        </p:spPr>
        <p:txBody>
          <a:bodyPr wrap="square" lIns="91440" tIns="91440" rIns="9144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 xml:space="preserve">💡 Banking: </a:t>
            </a:r>
            <a:r>
              <a:rPr lang="en-US" sz="1000" dirty="0">
                <a:solidFill>
                  <a:srgbClr val="334155"/>
                </a:solidFill>
              </a:rPr>
              <a:t>Absolutely everywhere in real-world banking systems</a:t>
            </a:r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4435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005840"/>
            <a:ext cx="4435920" cy="42062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1005840"/>
            <a:ext cx="4435920" cy="420624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Powerful Techniques in Banking</a:t>
            </a:r>
          </a:p>
        </p:txBody>
      </p:sp>
      <p:sp>
        <p:nvSpPr>
          <p:cNvPr id="22" name="Shape 20"/>
          <p:cNvSpPr/>
          <p:nvPr/>
        </p:nvSpPr>
        <p:spPr>
          <a:xfrm>
            <a:off x="4618800" y="1481760"/>
            <a:ext cx="4343760" cy="730440"/>
          </a:xfrm>
          <a:prstGeom prst="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</p:sp>
      <p:sp>
        <p:nvSpPr>
          <p:cNvPr id="23" name="Shape 21"/>
          <p:cNvSpPr/>
          <p:nvPr/>
        </p:nvSpPr>
        <p:spPr>
          <a:xfrm>
            <a:off x="4618800" y="1481760"/>
            <a:ext cx="54864" cy="730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10240" y="1481760"/>
            <a:ext cx="4252320" cy="730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📊 Clustering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Group similar customers automatically without predefined categories</a:t>
            </a:r>
          </a:p>
        </p:txBody>
      </p:sp>
      <p:sp>
        <p:nvSpPr>
          <p:cNvPr id="25" name="Shape 23"/>
          <p:cNvSpPr/>
          <p:nvPr/>
        </p:nvSpPr>
        <p:spPr>
          <a:xfrm>
            <a:off x="4618800" y="2257200"/>
            <a:ext cx="4343760" cy="730440"/>
          </a:xfrm>
          <a:prstGeom prst="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</p:sp>
      <p:sp>
        <p:nvSpPr>
          <p:cNvPr id="26" name="Shape 24"/>
          <p:cNvSpPr/>
          <p:nvPr/>
        </p:nvSpPr>
        <p:spPr>
          <a:xfrm>
            <a:off x="4618800" y="2257200"/>
            <a:ext cx="54864" cy="730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710240" y="2257200"/>
            <a:ext cx="4252320" cy="730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🚨 Anomaly Detection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Flag fraud patterns without knowing what fraud looks like upfront</a:t>
            </a:r>
          </a:p>
        </p:txBody>
      </p:sp>
      <p:sp>
        <p:nvSpPr>
          <p:cNvPr id="28" name="Shape 26"/>
          <p:cNvSpPr/>
          <p:nvPr/>
        </p:nvSpPr>
        <p:spPr>
          <a:xfrm>
            <a:off x="4618800" y="3032640"/>
            <a:ext cx="4343760" cy="730440"/>
          </a:xfrm>
          <a:prstGeom prst="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</p:sp>
      <p:sp>
        <p:nvSpPr>
          <p:cNvPr id="29" name="Shape 27"/>
          <p:cNvSpPr/>
          <p:nvPr/>
        </p:nvSpPr>
        <p:spPr>
          <a:xfrm>
            <a:off x="4618800" y="3032640"/>
            <a:ext cx="54864" cy="730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710240" y="3032640"/>
            <a:ext cx="4252320" cy="730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🧠 Dimensionality Reduction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Compress features while preserving key patterns in the data</a:t>
            </a:r>
          </a:p>
        </p:txBody>
      </p:sp>
      <p:sp>
        <p:nvSpPr>
          <p:cNvPr id="31" name="Shape 29"/>
          <p:cNvSpPr/>
          <p:nvPr/>
        </p:nvSpPr>
        <p:spPr>
          <a:xfrm>
            <a:off x="4618800" y="3808080"/>
            <a:ext cx="4343760" cy="730440"/>
          </a:xfrm>
          <a:prstGeom prst="rect">
            <a:avLst/>
          </a:prstGeom>
          <a:solidFill>
            <a:srgbClr val="F0F4F8"/>
          </a:solidFill>
          <a:ln>
            <a:solidFill>
              <a:srgbClr val="E2E8F0"/>
            </a:solidFill>
          </a:ln>
        </p:spPr>
      </p:sp>
      <p:sp>
        <p:nvSpPr>
          <p:cNvPr id="32" name="Shape 30"/>
          <p:cNvSpPr/>
          <p:nvPr/>
        </p:nvSpPr>
        <p:spPr>
          <a:xfrm>
            <a:off x="4618800" y="3808080"/>
            <a:ext cx="54864" cy="730440"/>
          </a:xfrm>
          <a:prstGeom prst="rect">
            <a:avLst/>
          </a:prstGeom>
          <a:solidFill>
            <a:srgbClr val="F4A825"/>
          </a:solidFill>
          <a:ln/>
        </p:spPr>
      </p:sp>
      <p:sp>
        <p:nvSpPr>
          <p:cNvPr id="33" name="Text 31"/>
          <p:cNvSpPr/>
          <p:nvPr/>
        </p:nvSpPr>
        <p:spPr>
          <a:xfrm>
            <a:off x="4710240" y="3808080"/>
            <a:ext cx="4252320" cy="730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🔗 Association Rules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Discover hidden co-occurrence patterns in financial behaviour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AWS Associate - Banking Domain</dc:title>
  <dc:subject>PptxGenJS Presentation</dc:subject>
  <dc:creator>ML Engineer Associate</dc:creator>
  <cp:lastModifiedBy>ML Engineer Associate</cp:lastModifiedBy>
  <cp:revision>1</cp:revision>
  <dcterms:created xsi:type="dcterms:W3CDTF">2026-04-12T08:38:58Z</dcterms:created>
  <dcterms:modified xsi:type="dcterms:W3CDTF">2026-04-12T08:38:58Z</dcterms:modified>
</cp:coreProperties>
</file>